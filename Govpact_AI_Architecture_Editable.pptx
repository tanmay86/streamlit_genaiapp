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265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Govpact AI : Zero Trust Data Governance Solution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84048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 on Top of Unity Catalog – Architecture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194560" y="65836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740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4600" y="658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/ Process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22192" y="749808"/>
            <a:ext cx="347472" cy="164592"/>
          </a:xfrm>
          <a:prstGeom prst="rightArrow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51960" y="65836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74066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658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79592" y="749808"/>
            <a:ext cx="347472" cy="164592"/>
          </a:xfrm>
          <a:prstGeom prst="rightArrow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09360" y="65836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7406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658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936992" y="749808"/>
            <a:ext cx="347472" cy="164592"/>
          </a:xfrm>
          <a:prstGeom prst="rightArrow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66760" y="65836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74066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0" y="658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234440" y="1143000"/>
            <a:ext cx="850392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3175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Shape 14"/>
          <p:cNvSpPr/>
          <p:nvPr/>
        </p:nvSpPr>
        <p:spPr>
          <a:xfrm>
            <a:off x="1234440" y="1143000"/>
            <a:ext cx="8503920" cy="384048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120700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80560" y="1143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627428" y="15819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1371600" y="1837944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3F0FA"/>
          </a:solidFill>
          <a:ln w="12700">
            <a:solidFill>
              <a:srgbClr val="D4C8E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463040" y="1874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4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Govpact AI Multi-Screen Application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463040" y="20574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(React + TypeScript + Tailwind + Vite)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1417320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184" y="2322576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55064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Browser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322576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7440" y="2322576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560320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750" dirty="0"/>
          </a:p>
        </p:txBody>
      </p:sp>
      <p:sp>
        <p:nvSpPr>
          <p:cNvPr id="33" name="Shape 24"/>
          <p:cNvSpPr/>
          <p:nvPr/>
        </p:nvSpPr>
        <p:spPr>
          <a:xfrm>
            <a:off x="3227832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696" y="2322576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465576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Suggested Tags</a:t>
            </a:r>
            <a:endParaRPr lang="en-US" sz="750" dirty="0"/>
          </a:p>
        </p:txBody>
      </p:sp>
      <p:sp>
        <p:nvSpPr>
          <p:cNvPr id="36" name="Shape 26"/>
          <p:cNvSpPr/>
          <p:nvPr/>
        </p:nvSpPr>
        <p:spPr>
          <a:xfrm>
            <a:off x="4133088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7952" y="2322576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370832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&amp; RLS</a:t>
            </a:r>
            <a:endParaRPr lang="en-US" sz="750" dirty="0"/>
          </a:p>
        </p:txBody>
      </p:sp>
      <p:sp>
        <p:nvSpPr>
          <p:cNvPr id="39" name="Shape 28"/>
          <p:cNvSpPr/>
          <p:nvPr/>
        </p:nvSpPr>
        <p:spPr>
          <a:xfrm>
            <a:off x="5038344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3208" y="2322576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76088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Dashboard</a:t>
            </a:r>
            <a:endParaRPr lang="en-US" sz="750" dirty="0"/>
          </a:p>
        </p:txBody>
      </p:sp>
      <p:sp>
        <p:nvSpPr>
          <p:cNvPr id="42" name="Shape 30"/>
          <p:cNvSpPr/>
          <p:nvPr/>
        </p:nvSpPr>
        <p:spPr>
          <a:xfrm>
            <a:off x="5943600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8464" y="2322576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181344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Explorer</a:t>
            </a:r>
            <a:endParaRPr lang="en-US" sz="750" dirty="0"/>
          </a:p>
        </p:txBody>
      </p:sp>
      <p:sp>
        <p:nvSpPr>
          <p:cNvPr id="45" name="Shape 32"/>
          <p:cNvSpPr/>
          <p:nvPr/>
        </p:nvSpPr>
        <p:spPr>
          <a:xfrm>
            <a:off x="6848856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3720" y="2322576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086600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750" dirty="0"/>
          </a:p>
        </p:txBody>
      </p:sp>
      <p:sp>
        <p:nvSpPr>
          <p:cNvPr id="48" name="Shape 34"/>
          <p:cNvSpPr/>
          <p:nvPr/>
        </p:nvSpPr>
        <p:spPr>
          <a:xfrm>
            <a:off x="7754112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8976" y="2322576"/>
            <a:ext cx="164592" cy="16459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991856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750" dirty="0"/>
          </a:p>
        </p:txBody>
      </p:sp>
      <p:sp>
        <p:nvSpPr>
          <p:cNvPr id="51" name="Shape 36"/>
          <p:cNvSpPr/>
          <p:nvPr/>
        </p:nvSpPr>
        <p:spPr>
          <a:xfrm>
            <a:off x="8659368" y="226771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14232" y="2322576"/>
            <a:ext cx="164592" cy="164592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8897112" y="22677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750" dirty="0"/>
          </a:p>
        </p:txBody>
      </p:sp>
      <p:sp>
        <p:nvSpPr>
          <p:cNvPr id="54" name="Text 38"/>
          <p:cNvSpPr/>
          <p:nvPr/>
        </p:nvSpPr>
        <p:spPr>
          <a:xfrm>
            <a:off x="4724406" y="2597730"/>
            <a:ext cx="2532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 AI</a:t>
            </a:r>
            <a:endParaRPr lang="en-US" sz="1100" dirty="0"/>
          </a:p>
        </p:txBody>
      </p:sp>
      <p:sp>
        <p:nvSpPr>
          <p:cNvPr id="55" name="Shape 39"/>
          <p:cNvSpPr/>
          <p:nvPr/>
        </p:nvSpPr>
        <p:spPr>
          <a:xfrm>
            <a:off x="1371600" y="2770632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3040" y="2880360"/>
            <a:ext cx="256032" cy="256032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1783080" y="2807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APIs</a:t>
            </a:r>
            <a:endParaRPr lang="en-US" sz="1000" dirty="0"/>
          </a:p>
        </p:txBody>
      </p:sp>
      <p:sp>
        <p:nvSpPr>
          <p:cNvPr id="58" name="Text 41"/>
          <p:cNvSpPr/>
          <p:nvPr/>
        </p:nvSpPr>
        <p:spPr>
          <a:xfrm>
            <a:off x="1783080" y="30083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(non-sensitive tag &amp; policy suggestions only)</a:t>
            </a:r>
            <a:endParaRPr lang="en-US" sz="800" dirty="0"/>
          </a:p>
        </p:txBody>
      </p:sp>
      <p:sp>
        <p:nvSpPr>
          <p:cNvPr id="59" name="Shape 42"/>
          <p:cNvSpPr/>
          <p:nvPr/>
        </p:nvSpPr>
        <p:spPr>
          <a:xfrm>
            <a:off x="5440680" y="2770632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32120" y="2880360"/>
            <a:ext cx="256032" cy="256032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5852160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/ Model Serving</a:t>
            </a:r>
            <a:endParaRPr lang="en-US" sz="1000" dirty="0"/>
          </a:p>
        </p:txBody>
      </p:sp>
      <p:sp>
        <p:nvSpPr>
          <p:cNvPr id="62" name="Text 44"/>
          <p:cNvSpPr/>
          <p:nvPr/>
        </p:nvSpPr>
        <p:spPr>
          <a:xfrm>
            <a:off x="1371600" y="352044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+ Data Warehousing</a:t>
            </a:r>
            <a:endParaRPr lang="en-US" sz="1100" dirty="0"/>
          </a:p>
        </p:txBody>
      </p:sp>
      <p:sp>
        <p:nvSpPr>
          <p:cNvPr id="63" name="Shape 45"/>
          <p:cNvSpPr/>
          <p:nvPr/>
        </p:nvSpPr>
        <p:spPr>
          <a:xfrm>
            <a:off x="1371600" y="377647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81328" y="3867912"/>
            <a:ext cx="237744" cy="237744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1783080" y="37764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/ Photon</a:t>
            </a:r>
            <a:endParaRPr lang="en-US" sz="1100" dirty="0"/>
          </a:p>
        </p:txBody>
      </p:sp>
      <p:sp>
        <p:nvSpPr>
          <p:cNvPr id="66" name="Shape 47"/>
          <p:cNvSpPr/>
          <p:nvPr/>
        </p:nvSpPr>
        <p:spPr>
          <a:xfrm>
            <a:off x="4114800" y="377647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24528" y="3867912"/>
            <a:ext cx="237744" cy="237744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4526280" y="37764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SQL</a:t>
            </a:r>
            <a:endParaRPr lang="en-US" sz="1100" dirty="0"/>
          </a:p>
        </p:txBody>
      </p:sp>
      <p:sp>
        <p:nvSpPr>
          <p:cNvPr id="69" name="Shape 49"/>
          <p:cNvSpPr/>
          <p:nvPr/>
        </p:nvSpPr>
        <p:spPr>
          <a:xfrm>
            <a:off x="6858000" y="377647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7728" y="3867912"/>
            <a:ext cx="237744" cy="237744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7269480" y="37764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Functions</a:t>
            </a:r>
            <a:endParaRPr lang="en-US" sz="1100" dirty="0"/>
          </a:p>
        </p:txBody>
      </p:sp>
      <p:sp>
        <p:nvSpPr>
          <p:cNvPr id="72" name="Shape 51"/>
          <p:cNvSpPr/>
          <p:nvPr/>
        </p:nvSpPr>
        <p:spPr>
          <a:xfrm>
            <a:off x="1344168" y="4343400"/>
            <a:ext cx="8284464" cy="960120"/>
          </a:xfrm>
          <a:prstGeom prst="roundRect">
            <a:avLst>
              <a:gd name="adj" fmla="val 5714"/>
            </a:avLst>
          </a:prstGeom>
          <a:solidFill>
            <a:srgbClr val="FFF8E7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73" name="Text 52"/>
          <p:cNvSpPr/>
          <p:nvPr/>
        </p:nvSpPr>
        <p:spPr>
          <a:xfrm>
            <a:off x="1417320" y="43891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Data Governance – Unity Catalog</a:t>
            </a:r>
            <a:endParaRPr lang="en-US" sz="1100" dirty="0"/>
          </a:p>
        </p:txBody>
      </p:sp>
      <p:sp>
        <p:nvSpPr>
          <p:cNvPr id="74" name="Shape 53"/>
          <p:cNvSpPr/>
          <p:nvPr/>
        </p:nvSpPr>
        <p:spPr>
          <a:xfrm>
            <a:off x="1417320" y="4636008"/>
            <a:ext cx="1341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D5A8"/>
            </a:solidFill>
            <a:prstDash val="solid"/>
          </a:ln>
        </p:spPr>
      </p:sp>
      <p:pic>
        <p:nvPicPr>
          <p:cNvPr id="75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2184" y="4690872"/>
            <a:ext cx="146304" cy="146304"/>
          </a:xfrm>
          <a:prstGeom prst="rect">
            <a:avLst/>
          </a:prstGeom>
        </p:spPr>
      </p:pic>
      <p:sp>
        <p:nvSpPr>
          <p:cNvPr id="76" name="Text 54"/>
          <p:cNvSpPr/>
          <p:nvPr/>
        </p:nvSpPr>
        <p:spPr>
          <a:xfrm>
            <a:off x="1463040" y="484632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(OBO enforced)</a:t>
            </a:r>
            <a:endParaRPr lang="en-US" sz="650" dirty="0"/>
          </a:p>
        </p:txBody>
      </p:sp>
      <p:sp>
        <p:nvSpPr>
          <p:cNvPr id="77" name="Shape 55"/>
          <p:cNvSpPr/>
          <p:nvPr/>
        </p:nvSpPr>
        <p:spPr>
          <a:xfrm>
            <a:off x="2785872" y="4636008"/>
            <a:ext cx="1341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D5A8"/>
            </a:solidFill>
            <a:prstDash val="solid"/>
          </a:ln>
        </p:spPr>
      </p:sp>
      <p:pic>
        <p:nvPicPr>
          <p:cNvPr id="78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40736" y="4690872"/>
            <a:ext cx="146304" cy="146304"/>
          </a:xfrm>
          <a:prstGeom prst="rect">
            <a:avLst/>
          </a:prstGeom>
        </p:spPr>
      </p:pic>
      <p:sp>
        <p:nvSpPr>
          <p:cNvPr id="79" name="Text 56"/>
          <p:cNvSpPr/>
          <p:nvPr/>
        </p:nvSpPr>
        <p:spPr>
          <a:xfrm>
            <a:off x="2831592" y="484632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and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650" dirty="0"/>
          </a:p>
        </p:txBody>
      </p:sp>
      <p:sp>
        <p:nvSpPr>
          <p:cNvPr id="80" name="Shape 57"/>
          <p:cNvSpPr/>
          <p:nvPr/>
        </p:nvSpPr>
        <p:spPr>
          <a:xfrm>
            <a:off x="4154424" y="4636008"/>
            <a:ext cx="1341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D5A8"/>
            </a:solidFill>
            <a:prstDash val="solid"/>
          </a:ln>
        </p:spPr>
      </p:sp>
      <p:pic>
        <p:nvPicPr>
          <p:cNvPr id="81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09288" y="4690872"/>
            <a:ext cx="146304" cy="146304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4200144" y="484632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650" dirty="0"/>
          </a:p>
        </p:txBody>
      </p:sp>
      <p:sp>
        <p:nvSpPr>
          <p:cNvPr id="83" name="Shape 59"/>
          <p:cNvSpPr/>
          <p:nvPr/>
        </p:nvSpPr>
        <p:spPr>
          <a:xfrm>
            <a:off x="5522976" y="4636008"/>
            <a:ext cx="1341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D5A8"/>
            </a:solidFill>
            <a:prstDash val="solid"/>
          </a:ln>
        </p:spPr>
      </p:sp>
      <p:pic>
        <p:nvPicPr>
          <p:cNvPr id="8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7840" y="4690872"/>
            <a:ext cx="146304" cy="146304"/>
          </a:xfrm>
          <a:prstGeom prst="rect">
            <a:avLst/>
          </a:prstGeom>
        </p:spPr>
      </p:pic>
      <p:sp>
        <p:nvSpPr>
          <p:cNvPr id="85" name="Text 60"/>
          <p:cNvSpPr/>
          <p:nvPr/>
        </p:nvSpPr>
        <p:spPr>
          <a:xfrm>
            <a:off x="5568696" y="484632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Data Classification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(PII/PHI detection only –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never leaves Databricks)</a:t>
            </a:r>
            <a:endParaRPr lang="en-US" sz="650" dirty="0"/>
          </a:p>
        </p:txBody>
      </p:sp>
      <p:sp>
        <p:nvSpPr>
          <p:cNvPr id="86" name="Shape 61"/>
          <p:cNvSpPr/>
          <p:nvPr/>
        </p:nvSpPr>
        <p:spPr>
          <a:xfrm>
            <a:off x="6891528" y="4636008"/>
            <a:ext cx="1341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D5A8"/>
            </a:solidFill>
            <a:prstDash val="solid"/>
          </a:ln>
        </p:spPr>
      </p:sp>
      <p:pic>
        <p:nvPicPr>
          <p:cNvPr id="87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46392" y="4690872"/>
            <a:ext cx="146304" cy="146304"/>
          </a:xfrm>
          <a:prstGeom prst="rect">
            <a:avLst/>
          </a:prstGeom>
        </p:spPr>
      </p:pic>
      <p:sp>
        <p:nvSpPr>
          <p:cNvPr id="88" name="Text 62"/>
          <p:cNvSpPr/>
          <p:nvPr/>
        </p:nvSpPr>
        <p:spPr>
          <a:xfrm>
            <a:off x="6937248" y="484632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Masks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Row Filters</a:t>
            </a:r>
            <a:endParaRPr lang="en-US" sz="650" dirty="0"/>
          </a:p>
        </p:txBody>
      </p:sp>
      <p:sp>
        <p:nvSpPr>
          <p:cNvPr id="89" name="Shape 63"/>
          <p:cNvSpPr/>
          <p:nvPr/>
        </p:nvSpPr>
        <p:spPr>
          <a:xfrm>
            <a:off x="8260080" y="4636008"/>
            <a:ext cx="1341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D5A8"/>
            </a:solidFill>
            <a:prstDash val="solid"/>
          </a:ln>
        </p:spPr>
      </p:sp>
      <p:pic>
        <p:nvPicPr>
          <p:cNvPr id="90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14944" y="4690872"/>
            <a:ext cx="146304" cy="146304"/>
          </a:xfrm>
          <a:prstGeom prst="rect">
            <a:avLst/>
          </a:prstGeom>
        </p:spPr>
      </p:pic>
      <p:sp>
        <p:nvSpPr>
          <p:cNvPr id="91" name="Text 64"/>
          <p:cNvSpPr/>
          <p:nvPr/>
        </p:nvSpPr>
        <p:spPr>
          <a:xfrm>
            <a:off x="8305800" y="484632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650" dirty="0"/>
          </a:p>
        </p:txBody>
      </p:sp>
      <p:sp>
        <p:nvSpPr>
          <p:cNvPr id="92" name="Shape 65"/>
          <p:cNvSpPr/>
          <p:nvPr/>
        </p:nvSpPr>
        <p:spPr>
          <a:xfrm>
            <a:off x="1344168" y="5394960"/>
            <a:ext cx="8284464" cy="6858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</p:sp>
      <p:sp>
        <p:nvSpPr>
          <p:cNvPr id="93" name="Text 66"/>
          <p:cNvSpPr/>
          <p:nvPr/>
        </p:nvSpPr>
        <p:spPr>
          <a:xfrm>
            <a:off x="1417320" y="54315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Management</a:t>
            </a:r>
            <a:endParaRPr lang="en-US" sz="1100" dirty="0"/>
          </a:p>
        </p:txBody>
      </p:sp>
      <p:sp>
        <p:nvSpPr>
          <p:cNvPr id="94" name="Shape 67"/>
          <p:cNvSpPr/>
          <p:nvPr/>
        </p:nvSpPr>
        <p:spPr>
          <a:xfrm>
            <a:off x="1417320" y="56692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A4A6B"/>
          </a:solidFill>
          <a:ln w="6350">
            <a:solidFill>
              <a:srgbClr val="2A5A7B"/>
            </a:solidFill>
            <a:prstDash val="solid"/>
          </a:ln>
        </p:spPr>
      </p:sp>
      <p:pic>
        <p:nvPicPr>
          <p:cNvPr id="95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08760" y="5742432"/>
            <a:ext cx="201168" cy="201168"/>
          </a:xfrm>
          <a:prstGeom prst="rect">
            <a:avLst/>
          </a:prstGeom>
        </p:spPr>
      </p:pic>
      <p:sp>
        <p:nvSpPr>
          <p:cNvPr id="96" name="Text 68"/>
          <p:cNvSpPr/>
          <p:nvPr/>
        </p:nvSpPr>
        <p:spPr>
          <a:xfrm>
            <a:off x="1764792" y="5669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900" dirty="0"/>
          </a:p>
        </p:txBody>
      </p:sp>
      <p:sp>
        <p:nvSpPr>
          <p:cNvPr id="97" name="Shape 69"/>
          <p:cNvSpPr/>
          <p:nvPr/>
        </p:nvSpPr>
        <p:spPr>
          <a:xfrm>
            <a:off x="3474720" y="56692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A4A6B"/>
          </a:solidFill>
          <a:ln w="6350">
            <a:solidFill>
              <a:srgbClr val="2A5A7B"/>
            </a:solidFill>
            <a:prstDash val="solid"/>
          </a:ln>
        </p:spPr>
      </p:sp>
      <p:pic>
        <p:nvPicPr>
          <p:cNvPr id="9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66160" y="5742432"/>
            <a:ext cx="201168" cy="201168"/>
          </a:xfrm>
          <a:prstGeom prst="rect">
            <a:avLst/>
          </a:prstGeom>
        </p:spPr>
      </p:pic>
      <p:sp>
        <p:nvSpPr>
          <p:cNvPr id="99" name="Text 70"/>
          <p:cNvSpPr/>
          <p:nvPr/>
        </p:nvSpPr>
        <p:spPr>
          <a:xfrm>
            <a:off x="3822192" y="5669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Volumes</a:t>
            </a:r>
            <a:endParaRPr lang="en-US" sz="900" dirty="0"/>
          </a:p>
        </p:txBody>
      </p:sp>
      <p:sp>
        <p:nvSpPr>
          <p:cNvPr id="100" name="Shape 71"/>
          <p:cNvSpPr/>
          <p:nvPr/>
        </p:nvSpPr>
        <p:spPr>
          <a:xfrm>
            <a:off x="5532120" y="56692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A4A6B"/>
          </a:solidFill>
          <a:ln w="6350">
            <a:solidFill>
              <a:srgbClr val="2A5A7B"/>
            </a:solidFill>
            <a:prstDash val="solid"/>
          </a:ln>
        </p:spPr>
      </p:sp>
      <p:pic>
        <p:nvPicPr>
          <p:cNvPr id="101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23560" y="5742432"/>
            <a:ext cx="201168" cy="201168"/>
          </a:xfrm>
          <a:prstGeom prst="rect">
            <a:avLst/>
          </a:prstGeom>
        </p:spPr>
      </p:pic>
      <p:sp>
        <p:nvSpPr>
          <p:cNvPr id="102" name="Text 72"/>
          <p:cNvSpPr/>
          <p:nvPr/>
        </p:nvSpPr>
        <p:spPr>
          <a:xfrm>
            <a:off x="5879592" y="5669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Models</a:t>
            </a:r>
            <a:endParaRPr lang="en-US" sz="900" dirty="0"/>
          </a:p>
        </p:txBody>
      </p:sp>
      <p:sp>
        <p:nvSpPr>
          <p:cNvPr id="103" name="Shape 73"/>
          <p:cNvSpPr/>
          <p:nvPr/>
        </p:nvSpPr>
        <p:spPr>
          <a:xfrm>
            <a:off x="7589520" y="56692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A4A6B"/>
          </a:solidFill>
          <a:ln w="6350">
            <a:solidFill>
              <a:srgbClr val="2A5A7B"/>
            </a:solidFill>
            <a:prstDash val="solid"/>
          </a:ln>
        </p:spPr>
      </p:sp>
      <p:pic>
        <p:nvPicPr>
          <p:cNvPr id="104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80960" y="5742432"/>
            <a:ext cx="201168" cy="201168"/>
          </a:xfrm>
          <a:prstGeom prst="rect">
            <a:avLst/>
          </a:prstGeom>
        </p:spPr>
      </p:pic>
      <p:sp>
        <p:nvSpPr>
          <p:cNvPr id="105" name="Text 74"/>
          <p:cNvSpPr/>
          <p:nvPr/>
        </p:nvSpPr>
        <p:spPr>
          <a:xfrm>
            <a:off x="7936992" y="5669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&amp; Workflows</a:t>
            </a:r>
            <a:endParaRPr lang="en-US" sz="900" dirty="0"/>
          </a:p>
        </p:txBody>
      </p:sp>
      <p:sp>
        <p:nvSpPr>
          <p:cNvPr id="106" name="Shape 75"/>
          <p:cNvSpPr/>
          <p:nvPr/>
        </p:nvSpPr>
        <p:spPr>
          <a:xfrm>
            <a:off x="9921240" y="1143000"/>
            <a:ext cx="2057400" cy="50749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0B2C4A"/>
            </a:solidFill>
            <a:prstDash val="solid"/>
          </a:ln>
        </p:spPr>
      </p:sp>
      <p:sp>
        <p:nvSpPr>
          <p:cNvPr id="107" name="Shape 76"/>
          <p:cNvSpPr/>
          <p:nvPr/>
        </p:nvSpPr>
        <p:spPr>
          <a:xfrm>
            <a:off x="9921240" y="1143000"/>
            <a:ext cx="2057400" cy="347472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08" name="Text 77"/>
          <p:cNvSpPr/>
          <p:nvPr/>
        </p:nvSpPr>
        <p:spPr>
          <a:xfrm>
            <a:off x="9921240" y="11430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109" name="Shape 78"/>
          <p:cNvSpPr/>
          <p:nvPr/>
        </p:nvSpPr>
        <p:spPr>
          <a:xfrm>
            <a:off x="10012680" y="1600200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pic>
        <p:nvPicPr>
          <p:cNvPr id="110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04120" y="1691640"/>
            <a:ext cx="256032" cy="256032"/>
          </a:xfrm>
          <a:prstGeom prst="rect">
            <a:avLst/>
          </a:prstGeom>
        </p:spPr>
      </p:pic>
      <p:sp>
        <p:nvSpPr>
          <p:cNvPr id="111" name="Text 79"/>
          <p:cNvSpPr/>
          <p:nvPr/>
        </p:nvSpPr>
        <p:spPr>
          <a:xfrm>
            <a:off x="1005840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Provider / IAM</a:t>
            </a:r>
            <a:endParaRPr lang="en-US" sz="900" dirty="0"/>
          </a:p>
        </p:txBody>
      </p:sp>
      <p:sp>
        <p:nvSpPr>
          <p:cNvPr id="112" name="Text 80"/>
          <p:cNvSpPr/>
          <p:nvPr/>
        </p:nvSpPr>
        <p:spPr>
          <a:xfrm>
            <a:off x="100584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(Entra ID / Okta,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/ OIDC, SCIM)</a:t>
            </a:r>
            <a:endParaRPr lang="en-US" sz="800" dirty="0"/>
          </a:p>
        </p:txBody>
      </p:sp>
      <p:sp>
        <p:nvSpPr>
          <p:cNvPr id="113" name="Shape 81"/>
          <p:cNvSpPr/>
          <p:nvPr/>
        </p:nvSpPr>
        <p:spPr>
          <a:xfrm>
            <a:off x="10030968" y="2743200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4" name="Text 82"/>
          <p:cNvSpPr/>
          <p:nvPr/>
        </p:nvSpPr>
        <p:spPr>
          <a:xfrm>
            <a:off x="1003096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5" name="Text 83"/>
          <p:cNvSpPr/>
          <p:nvPr/>
        </p:nvSpPr>
        <p:spPr>
          <a:xfrm>
            <a:off x="1033272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Classification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(PII/PHI stays inside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Databricks)</a:t>
            </a:r>
            <a:endParaRPr lang="en-US" sz="750" dirty="0"/>
          </a:p>
        </p:txBody>
      </p:sp>
      <p:sp>
        <p:nvSpPr>
          <p:cNvPr id="116" name="Shape 84"/>
          <p:cNvSpPr/>
          <p:nvPr/>
        </p:nvSpPr>
        <p:spPr>
          <a:xfrm>
            <a:off x="10030968" y="3520440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7" name="Text 85"/>
          <p:cNvSpPr/>
          <p:nvPr/>
        </p:nvSpPr>
        <p:spPr>
          <a:xfrm>
            <a:off x="10030968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8" name="Text 86"/>
          <p:cNvSpPr/>
          <p:nvPr/>
        </p:nvSpPr>
        <p:spPr>
          <a:xfrm>
            <a:off x="1033272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receives only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labels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metadata (never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PII/PHI)</a:t>
            </a:r>
            <a:endParaRPr lang="en-US" sz="750" dirty="0"/>
          </a:p>
        </p:txBody>
      </p:sp>
      <p:sp>
        <p:nvSpPr>
          <p:cNvPr id="119" name="Shape 87"/>
          <p:cNvSpPr/>
          <p:nvPr/>
        </p:nvSpPr>
        <p:spPr>
          <a:xfrm>
            <a:off x="10030968" y="4434840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0" name="Text 88"/>
          <p:cNvSpPr/>
          <p:nvPr/>
        </p:nvSpPr>
        <p:spPr>
          <a:xfrm>
            <a:off x="10030968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1" name="Text 89"/>
          <p:cNvSpPr/>
          <p:nvPr/>
        </p:nvSpPr>
        <p:spPr>
          <a:xfrm>
            <a:off x="10332720" y="4389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tags 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 / filters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to Unity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750" dirty="0"/>
          </a:p>
        </p:txBody>
      </p:sp>
      <p:sp>
        <p:nvSpPr>
          <p:cNvPr id="122" name="Shape 90"/>
          <p:cNvSpPr/>
          <p:nvPr/>
        </p:nvSpPr>
        <p:spPr>
          <a:xfrm>
            <a:off x="109728" y="1691640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3" name="Text 91"/>
          <p:cNvSpPr/>
          <p:nvPr/>
        </p:nvSpPr>
        <p:spPr>
          <a:xfrm>
            <a:off x="109728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4" name="Text 92"/>
          <p:cNvSpPr/>
          <p:nvPr/>
        </p:nvSpPr>
        <p:spPr>
          <a:xfrm>
            <a:off x="73152" y="20116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 via OBO →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Apps →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→ Unity Catalog</a:t>
            </a:r>
            <a:endParaRPr lang="en-US" sz="800" dirty="0"/>
          </a:p>
        </p:txBody>
      </p:sp>
      <p:sp>
        <p:nvSpPr>
          <p:cNvPr id="125" name="Shape 93"/>
          <p:cNvSpPr/>
          <p:nvPr/>
        </p:nvSpPr>
        <p:spPr>
          <a:xfrm>
            <a:off x="210312" y="2926080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6" name="Shape 94"/>
          <p:cNvSpPr/>
          <p:nvPr/>
        </p:nvSpPr>
        <p:spPr>
          <a:xfrm>
            <a:off x="210312" y="3182112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7" name="Shape 95"/>
          <p:cNvSpPr/>
          <p:nvPr/>
        </p:nvSpPr>
        <p:spPr>
          <a:xfrm>
            <a:off x="210312" y="3438144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8" name="Shape 96"/>
          <p:cNvSpPr/>
          <p:nvPr/>
        </p:nvSpPr>
        <p:spPr>
          <a:xfrm>
            <a:off x="210312" y="3694176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9" name="Shape 97"/>
          <p:cNvSpPr/>
          <p:nvPr/>
        </p:nvSpPr>
        <p:spPr>
          <a:xfrm>
            <a:off x="210312" y="3950208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0" name="Shape 98"/>
          <p:cNvSpPr/>
          <p:nvPr/>
        </p:nvSpPr>
        <p:spPr>
          <a:xfrm>
            <a:off x="210312" y="4206240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1" name="Shape 99"/>
          <p:cNvSpPr/>
          <p:nvPr/>
        </p:nvSpPr>
        <p:spPr>
          <a:xfrm>
            <a:off x="210312" y="4462272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2" name="Shape 100"/>
          <p:cNvSpPr/>
          <p:nvPr/>
        </p:nvSpPr>
        <p:spPr>
          <a:xfrm>
            <a:off x="210312" y="4718304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3" name="Shape 101"/>
          <p:cNvSpPr/>
          <p:nvPr/>
        </p:nvSpPr>
        <p:spPr>
          <a:xfrm>
            <a:off x="210312" y="4974336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4" name="Shape 102"/>
          <p:cNvSpPr/>
          <p:nvPr/>
        </p:nvSpPr>
        <p:spPr>
          <a:xfrm>
            <a:off x="210312" y="5230368"/>
            <a:ext cx="36576" cy="1280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5" name="Shape 103"/>
          <p:cNvSpPr/>
          <p:nvPr/>
        </p:nvSpPr>
        <p:spPr>
          <a:xfrm>
            <a:off x="274320" y="6355080"/>
            <a:ext cx="11612880" cy="384048"/>
          </a:xfrm>
          <a:prstGeom prst="rect">
            <a:avLst/>
          </a:prstGeom>
          <a:solidFill>
            <a:srgbClr val="0B2C4A"/>
          </a:solidFill>
          <a:ln/>
        </p:spPr>
      </p:sp>
      <p:pic>
        <p:nvPicPr>
          <p:cNvPr id="136" name="Image 3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437376"/>
            <a:ext cx="219456" cy="219456"/>
          </a:xfrm>
          <a:prstGeom prst="rect">
            <a:avLst/>
          </a:prstGeom>
        </p:spPr>
      </p:pic>
      <p:sp>
        <p:nvSpPr>
          <p:cNvPr id="137" name="Text 104"/>
          <p:cNvSpPr/>
          <p:nvPr/>
        </p:nvSpPr>
        <p:spPr>
          <a:xfrm>
            <a:off x="731520" y="6355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Authentication used in Dev &amp; Prod</a:t>
            </a:r>
            <a:endParaRPr lang="en-US" sz="1000" dirty="0"/>
          </a:p>
        </p:txBody>
      </p:sp>
      <p:sp>
        <p:nvSpPr>
          <p:cNvPr id="138" name="Text 105"/>
          <p:cNvSpPr/>
          <p:nvPr/>
        </p:nvSpPr>
        <p:spPr>
          <a:xfrm>
            <a:off x="3931920" y="635508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pic>
        <p:nvPicPr>
          <p:cNvPr id="139" name="Image 3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6437376"/>
            <a:ext cx="219456" cy="219456"/>
          </a:xfrm>
          <a:prstGeom prst="rect">
            <a:avLst/>
          </a:prstGeom>
        </p:spPr>
      </p:pic>
      <p:sp>
        <p:nvSpPr>
          <p:cNvPr id="140" name="Text 106"/>
          <p:cNvSpPr/>
          <p:nvPr/>
        </p:nvSpPr>
        <p:spPr>
          <a:xfrm>
            <a:off x="4526280" y="6355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Service Principal for interactive actions</a:t>
            </a:r>
            <a:endParaRPr lang="en-US" sz="1000" dirty="0"/>
          </a:p>
        </p:txBody>
      </p:sp>
      <p:sp>
        <p:nvSpPr>
          <p:cNvPr id="141" name="Text 107"/>
          <p:cNvSpPr/>
          <p:nvPr/>
        </p:nvSpPr>
        <p:spPr>
          <a:xfrm>
            <a:off x="8046720" y="635508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pic>
        <p:nvPicPr>
          <p:cNvPr id="142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21040" y="6437376"/>
            <a:ext cx="219456" cy="219456"/>
          </a:xfrm>
          <a:prstGeom prst="rect">
            <a:avLst/>
          </a:prstGeom>
        </p:spPr>
      </p:pic>
      <p:sp>
        <p:nvSpPr>
          <p:cNvPr id="143" name="Text 108"/>
          <p:cNvSpPr/>
          <p:nvPr/>
        </p:nvSpPr>
        <p:spPr>
          <a:xfrm>
            <a:off x="8641080" y="6355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PII/PHI never sent to LLM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230</Words>
  <Application>Microsoft Office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Govpact AI : Zero Trust Data Governance Solution</dc:title>
  <dc:subject>Architecture Overview - Editable Diagram</dc:subject>
  <dc:creator>Govpact AI</dc:creator>
  <cp:lastModifiedBy>tanmay tiwari</cp:lastModifiedBy>
  <cp:revision>2</cp:revision>
  <dcterms:created xsi:type="dcterms:W3CDTF">2026-08-15T06:23:00Z</dcterms:created>
  <dcterms:modified xsi:type="dcterms:W3CDTF">2026-08-15T06:27:39Z</dcterms:modified>
</cp:coreProperties>
</file>