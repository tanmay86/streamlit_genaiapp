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5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8469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 ·  DATA PLATFORM 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 Accelerator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End-to-End Governance for Databricks Workspaces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429000" y="2880360"/>
            <a:ext cx="2286000" cy="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10896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Unity Catalog setup, built-in PII/PHI classification, AI tag suggestions,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policies, least-privilege access and audit — with human approval.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">
            <a:extLst>
              <a:ext uri="{FF2B5EF4-FFF2-40B4-BE49-F238E27FC236}">
                <a16:creationId xmlns:a16="http://schemas.microsoft.com/office/drawing/2014/main" id="{DD2BEB2A-0A6D-C475-5812-FACEB180F6FB}"/>
              </a:ext>
            </a:extLst>
          </p:cNvPr>
          <p:cNvSpPr/>
          <p:nvPr/>
        </p:nvSpPr>
        <p:spPr>
          <a:xfrm>
            <a:off x="320040" y="931342"/>
            <a:ext cx="8503920" cy="4065854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/>
          <a:effectLst>
            <a:outerShdw blurRad="127000" dist="381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" name="Text 0"/>
          <p:cNvSpPr/>
          <p:nvPr/>
        </p:nvSpPr>
        <p:spPr>
          <a:xfrm>
            <a:off x="36576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06235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Governance Accelerator is a ready-to-deploy Databricks application that lets administrators set up and manage workspace-level data governance through a single interactive UI — with built-in classification, AI assistance, and human approval at every step.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03895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Provides a central control-plane UI inside Databricks so administrators can configure catalogs, schemas, tags, permissions, masking rules, and audit visibility in a guided few-click workflow — without writing scripts or switching between multiple consoles.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42615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Connects natively to Unity Catalog, enabling centralized management of catalogs, schemas, tables, volumes, storage credentials, and grants from one place.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823866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Uses Databricks built-in data classification to automatically detect PII and PHI columns while keeping all data inside the platform for better security and lower cost.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200554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Leverages Model Serving (Foundation Models) to suggest richer, business-friendly governance tags based on column names and sample data, with confidence scores and mandatory admin approval.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57724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Includes a natural-language policy helper that lets administrators describe access rules in plain English and receive ready-to-apply Unity Catalog grants, column masks, and row filters.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9434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Enforces least-privilege access by recommending and applying column-level masking and row-level security filters on sensitive data, guided by both classification results and AI suggestions.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329908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Offers a searchable audit explorer that aggregates security access logs and workspace events from system tables, supporting compliance readiness (HIPAA, SOC 2, GDPR, etc.).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3581186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Supports secure credential management through Databricks secret scopes for external storage and service credentials.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863284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Reduces time-to-govern from days or weeks of manual effort down to hours of guided configuration, while improving consistency of tags and policies across teams.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421895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 Lowers the skill barrier so non-expert administrators can create correct access policies using natural language, while still requiring human review of every AI recommendation.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460615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 Is designed as a reusable accelerator that can be deployed across multiple workspaces with configuration rather than custom code, keeping operating costs low through on-demand AI usage only.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 and what it does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/>
          <a:effectLst>
            <a:outerShdw blurRad="127000" dist="381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5156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AI-assisted Databricks application that automates data governance at workspace level. Built-in classification handles PII/PHI detection. Model Serving powers contextual tag suggestions and natural-language policy generation — always with human-in-the-loop approval.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828800"/>
            <a:ext cx="2743200" cy="1188720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/>
          <a:effectLst>
            <a:outerShdw blurRad="1270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r>
              <a:rPr lang="en-IN" dirty="0"/>
              <a:t>c</a:t>
            </a: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93392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199339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App UI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2331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control plane for end-to-end governance configuration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1828800"/>
            <a:ext cx="2743200" cy="1188720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/>
          <a:effectLst>
            <a:outerShdw blurRad="127000" dist="38100" dir="5400000" algn="bl" rotWithShape="0">
              <a:srgbClr val="000000">
                <a:alpha val="7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1993392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57600" y="199339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 Native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337560" y="2331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metadata, securable hierarchy &amp; unified access control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080760" y="1828800"/>
            <a:ext cx="2743200" cy="1188720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/>
          <a:effectLst>
            <a:outerShdw blurRad="127000" dist="38100" dir="5400000" algn="bl" rotWithShape="0">
              <a:srgbClr val="000000">
                <a:alpha val="7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1993392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537960" y="199339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Classification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217920" y="2331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PII/PHI scan + automatic sensitive-data detection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320040" y="3154680"/>
            <a:ext cx="2743200" cy="1188720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/>
          <a:effectLst>
            <a:outerShdw blurRad="127000" dist="38100" dir="5400000" algn="bl" rotWithShape="0">
              <a:srgbClr val="000000">
                <a:alpha val="7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319272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77240" y="331927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Tag Suggestions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457200" y="36576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suggests contextual governance tags; admin approves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3200400" y="3154680"/>
            <a:ext cx="2743200" cy="1188720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/>
          <a:effectLst>
            <a:outerShdw blurRad="127000" dist="38100" dir="5400000" algn="bl" rotWithShape="0">
              <a:srgbClr val="000000">
                <a:alpha val="7000"/>
              </a:srgbClr>
            </a:outerShdw>
          </a:effectLst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7560" y="3319272"/>
            <a:ext cx="256032" cy="25603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657600" y="331927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Policy Helper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3337560" y="36576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policy in plain English → generates grants &amp; masks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6080760" y="3154680"/>
            <a:ext cx="2743200" cy="1188720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/>
          <a:effectLst>
            <a:outerShdw blurRad="127000" dist="38100" dir="5400000" algn="bl" rotWithShape="0">
              <a:srgbClr val="000000">
                <a:alpha val="7000"/>
              </a:srgbClr>
            </a:outerShdw>
          </a:effectLst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7920" y="3319272"/>
            <a:ext cx="256032" cy="25603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537960" y="331927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Access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6217920" y="36576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masking &amp; row filters guided by classification + AI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801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30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34747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kumimoji="0" lang="en-US" sz="2200" b="1" i="0" u="none" strike="noStrike" kern="1200" cap="none" spc="0" normalizeH="0" baseline="0" noProof="0" dirty="0" err="1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rchitecture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Overview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560320" y="804672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EEF2FF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560320" y="85953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F549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Administrators  ·  Data Stewards  ·  Security / Compliance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297680" y="11704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▼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65760" y="1353312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4472C4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40817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  ·  Databricks App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02920" y="16642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0E7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UI  ·  Governance wizards  ·  Human-in-the-loop approval  ·  Tag &amp; policy dashboard  ·  NL policy chat  ·  Audit explorer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297680" y="199339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▼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65760" y="2157984"/>
            <a:ext cx="4069080" cy="713232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157984"/>
            <a:ext cx="91440" cy="7132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212848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Built-in Data Classification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94360" y="2450592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 native PII / PHI detection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Data never leaves the platform  ·  Auto-tag rules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709160" y="2157984"/>
            <a:ext cx="4069080" cy="713232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2157984"/>
            <a:ext cx="91440" cy="713232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2212848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 Serving (on-demand)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937760" y="2450592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tag suggestions  ·  NL → policy generation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Pay-per-token  ·  Human approval required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297680" y="28529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▼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65760" y="2999232"/>
            <a:ext cx="8412480" cy="713232"/>
          </a:xfrm>
          <a:prstGeom prst="roundRect">
            <a:avLst>
              <a:gd name="adj" fmla="val 10256"/>
            </a:avLst>
          </a:prstGeom>
          <a:solidFill>
            <a:srgbClr val="D6E3F8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3054096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2F549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  ·  Governance &amp; Security Plane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02920" y="331012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Catalogs  ·  Schemas  ·  Tables / Volumes  ·  Storage Credentials  ·  Grants  ·  Column Masks  ·  Row Filters  ·  Tags  ·  Lineage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297680" y="3694176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▼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65760" y="3822192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2920" y="389534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Jobs / Workflows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02920" y="413308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Jobs for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scans &amp;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scheduled governance tasks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3200400" y="3822192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337560" y="389534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System Tables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337560" y="413308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Audit logs · Access events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Billing &amp; usage · Aggregated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 the App audit explorer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035040" y="3822192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172200" y="389534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Secret Scopes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172200" y="413308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management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for external storage &amp;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service principals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 &amp; Cons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114800" cy="3611880"/>
          </a:xfrm>
          <a:prstGeom prst="roundRect">
            <a:avLst>
              <a:gd name="adj" fmla="val 2025"/>
            </a:avLst>
          </a:prstGeom>
          <a:solidFill>
            <a:srgbClr val="F8FAFC"/>
          </a:solidFill>
          <a:ln/>
          <a:effectLst>
            <a:outerShdw blurRad="127000" dist="38100" dir="5400000" algn="bl" rotWithShape="0">
              <a:srgbClr val="000000">
                <a:alpha val="7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43000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11612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02920" y="155448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Time-to-govern reduced from days to hours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2920" y="190195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Built-in classification keeps data in-platform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2920" y="224942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AI tag suggestions improve consistency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259689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Natural-language policies lower skill barrier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02920" y="294436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Human approval on every AI recommendation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2920" y="329184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Native Unity Catalog — no metadata silos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02920" y="363931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Least-privilege guidance reduces exposure risk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02920" y="398678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Reusable accelerator across workspaces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709160" y="1005840"/>
            <a:ext cx="4114800" cy="3611880"/>
          </a:xfrm>
          <a:prstGeom prst="roundRect">
            <a:avLst>
              <a:gd name="adj" fmla="val 2025"/>
            </a:avLst>
          </a:prstGeom>
          <a:solidFill>
            <a:srgbClr val="F8FAFC"/>
          </a:solidFill>
          <a:ln/>
          <a:effectLst>
            <a:outerShdw blurRad="127000" dist="38100" dir="5400000" algn="bl" rotWithShape="0">
              <a:srgbClr val="000000">
                <a:alpha val="7000"/>
              </a:srgbClr>
            </a:outerShdw>
          </a:effectLst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143000"/>
            <a:ext cx="256032" cy="25603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257800" y="116128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 / CONSIDERATIONS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4892040" y="155448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Requires Premium / Unity Catalog workspace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892040" y="190195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AI suggestions still need human review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4892040" y="224942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Model Serving adds small variable token cost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892040" y="259689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Built-in classifiers may need rule extensions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4892040" y="294436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Change-management for admin adoption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892040" y="329184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Prompt quality affects suggestion usefulness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4892040" y="363931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Ongoing maintenance of policies &amp; tags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4892040" y="398678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Feature coverage follows Databricks roadmap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Development Cost 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8503920" cy="868680"/>
          </a:xfrm>
          <a:prstGeom prst="roundRect">
            <a:avLst>
              <a:gd name="adj" fmla="val 8421"/>
            </a:avLst>
          </a:prstGeom>
          <a:solidFill>
            <a:srgbClr val="D6E3F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987552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10 tables  ·  ~10,000 records each  ·  Developed locally (App not hosted until ready)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20700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2 hrs/week  ·  Serverless classification  ·  On-demand Model Serving for AI features  · 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Platform  ·  4–8 weeks  ·  Est. $80 – $220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" y="1965960"/>
            <a:ext cx="8503920" cy="329184"/>
          </a:xfrm>
          <a:prstGeom prst="rect">
            <a:avLst/>
          </a:prstGeom>
          <a:solidFill>
            <a:srgbClr val="E8EEF7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01168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Category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80560" y="201168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132320" y="201168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Cost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313432"/>
            <a:ext cx="8503920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3591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Compute (Jobs)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80560" y="23591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&amp; test scans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32320" y="235915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 – $100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2660904"/>
            <a:ext cx="850392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70662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Apps (demo only)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80560" y="270662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hrs/week after build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132320" y="270662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 – $25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3008376"/>
            <a:ext cx="8503920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05409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Serving (AI MVP)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480560" y="305409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+ NL policy tests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132320" y="305409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 – $35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3355848"/>
            <a:ext cx="850392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4015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Contingency / misc.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480560" y="34015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buffer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32320" y="340156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 – $50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0040" y="3703320"/>
            <a:ext cx="8503920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37490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/ Engineering Cost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480560" y="37490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132320" y="374904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65760" y="41605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costs use on-demand Foundation Model Serving only when testing tag suggestions or NL policy generation. Pure DBU calculation + ~20% conservative buffer.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RUN-RATE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Production Cost (Platform, Monthly)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896112"/>
            <a:ext cx="8503920" cy="594360"/>
          </a:xfrm>
          <a:prstGeom prst="roundRect">
            <a:avLst>
              <a:gd name="adj" fmla="val 12308"/>
            </a:avLst>
          </a:prstGeom>
          <a:solidFill>
            <a:srgbClr val="D6E3F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9601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workspace  ·  Average data load (≈ 100–300 tables)  ·  App runs 4–5 hrs/month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on-demand  ·  Model Serving only when admin requests AI suggestions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645920"/>
            <a:ext cx="4160520" cy="292608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/>
          <a:effectLst>
            <a:outerShdw blurRad="127000" dist="381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78308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COMPUTE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02996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Pay-per-use  ·  No cluster management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3317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Apps (4–5 hrs/mo)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08960" y="233172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 – $60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6517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Jobs (classification)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108960" y="265176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 – $100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29718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Serving (AI suggestions)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108960" y="297180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 – $25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32918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Contingency (minimal)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108960" y="329184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 – $25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3794760"/>
            <a:ext cx="3794760" cy="457200"/>
          </a:xfrm>
          <a:prstGeom prst="rect">
            <a:avLst/>
          </a:prstGeom>
          <a:solidFill>
            <a:srgbClr val="D6E3F8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88620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 ·  $83 – $210 / month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663440" y="1645920"/>
            <a:ext cx="4160520" cy="292608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/>
          <a:effectLst>
            <a:outerShdw blurRad="127000" dist="381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46320" y="178308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COMPUTE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46320" y="202996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Cluster-based  ·  More control, higher baseline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23317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Apps (4–5 hrs/mo)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452360" y="233172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 – $60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46320" y="26517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Jobs / Clusters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452360" y="265176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$70 – $160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46320" y="29718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Serving (AI suggestions)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452360" y="297180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 – $25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46320" y="32918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Contingency (minimal)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452360" y="329184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 – $30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46320" y="3794760"/>
            <a:ext cx="3794760" cy="457200"/>
          </a:xfrm>
          <a:prstGeom prst="rect">
            <a:avLst/>
          </a:prstGeom>
          <a:solidFill>
            <a:srgbClr val="D6E3F8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388620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 ·  $118 – $275 / month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65760" y="47091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Serving is on-demand only (Foundation Models). No always-on endpoints. No storage line items.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Scenarios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206240" cy="164592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/>
          <a:effectLst>
            <a:outerShdw blurRad="127000" dist="38100" dir="5400000" algn="bl" rotWithShape="0">
              <a:srgbClr val="000000">
                <a:alpha val="7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1170432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0392" y="11704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Analytics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84632" y="1536192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PHI classification + AI tag suggestions (e.g. ClinicalPII). NL policy helper generates research vs operations masks. Full audit trail for HIPAA readiness.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09160" y="1005840"/>
            <a:ext cx="4206240" cy="164592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/>
          <a:effectLst>
            <a:outerShdw blurRad="127000" dist="38100" dir="5400000" algn="bl" rotWithShape="0">
              <a:srgbClr val="000000">
                <a:alpha val="7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1170432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39512" y="11704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Services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873752" y="1536192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SSN/account fields. AI suggests richer tags. Admin types “mask PII for analysts” → NL helper creates grants and dynamic masks. Supports SOC 2 / GDPR evidence.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20040" y="2788920"/>
            <a:ext cx="4206240" cy="164592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/>
          <a:effectLst>
            <a:outerShdw blurRad="127000" dist="38100" dir="5400000" algn="bl" rotWithShape="0">
              <a:srgbClr val="000000">
                <a:alpha val="7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" y="2953512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50392" y="29535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/ Customer 360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484632" y="3319272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email/phone/address fields. AI proposes CustomerContactPII tags. Row-level filters by region via natural-language requests. Secret-scope credential management.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709160" y="2788920"/>
            <a:ext cx="4206240" cy="164592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/>
          <a:effectLst>
            <a:outerShdw blurRad="127000" dist="38100" dir="5400000" algn="bl" rotWithShape="0">
              <a:srgbClr val="000000">
                <a:alpha val="7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752" y="2953512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239512" y="29535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/ IoT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4873752" y="3319272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 sensor and production data. Classification rules + AI recommendations for proprietary parameters. Schema-level permissions and access monitoring via system tables.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a unique solution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20624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/>
          <a:effectLst>
            <a:outerShdw blurRad="127000" dist="38100" dir="5400000" algn="bl" rotWithShape="0">
              <a:srgbClr val="000000">
                <a:alpha val="7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7043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115214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Classification + AI Enrichment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144475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PII/PHI detection keeps data inside Databricks. Model Serving adds contextual tag suggestions with confidence scores and mandatory human approval.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09160" y="1005840"/>
            <a:ext cx="420624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/>
          <a:effectLst>
            <a:outerShdw blurRad="127000" dist="38100" dir="5400000" algn="bl" rotWithShape="0">
              <a:srgbClr val="000000">
                <a:alpha val="7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17043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66360" y="115214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Policy Helper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846320" y="144475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describe intent in plain English. The model generates Unity Catalog grants, column masks and row filters — ready for one-click review and apply.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20040" y="2194560"/>
            <a:ext cx="420624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/>
          <a:effectLst>
            <a:outerShdw blurRad="127000" dist="38100" dir="5400000" algn="bl" rotWithShape="0">
              <a:srgbClr val="000000">
                <a:alpha val="7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359152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77240" y="234086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 Native by Design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57200" y="263347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parallel metadata store. Every action maps directly to UC securables, grants, masks and tags — future-proof and fully audit-ready.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709160" y="2194560"/>
            <a:ext cx="420624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/>
          <a:effectLst>
            <a:outerShdw blurRad="127000" dist="38100" dir="5400000" algn="bl" rotWithShape="0">
              <a:srgbClr val="000000">
                <a:alpha val="7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2359152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66360" y="234086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Lifecycle in One Control Plane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4846320" y="263347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→ Classification → AI Tagging → Access Control → Masking → Audit → Credentials. One UI, one workflow, human-in-the-loop throughout.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320040" y="3383280"/>
            <a:ext cx="420624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/>
          <a:effectLst>
            <a:outerShdw blurRad="127000" dist="38100" dir="5400000" algn="bl" rotWithShape="0">
              <a:srgbClr val="000000">
                <a:alpha val="7000"/>
              </a:srgbClr>
            </a:outerShdw>
          </a:effectLst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547872"/>
            <a:ext cx="237744" cy="23774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77240" y="352958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by Default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457200" y="382219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+ AI recommendations surface sensitive columns and drive precise mask &amp; row-filter suggestions, reducing over-privileged grants.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4709160" y="3383280"/>
            <a:ext cx="420624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/>
          <a:effectLst>
            <a:outerShdw blurRad="127000" dist="38100" dir="5400000" algn="bl" rotWithShape="0">
              <a:srgbClr val="000000">
                <a:alpha val="7000"/>
              </a:srgbClr>
            </a:outerShdw>
          </a:effectLst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6320" y="3547872"/>
            <a:ext cx="237744" cy="23774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166360" y="352958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Accelerator, Not a One-Off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4846320" y="382219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product deployable across workspaces with configuration. AI features stay optional and on-demand to keep costs minimal.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1415</Words>
  <Application>Microsoft Office PowerPoint</Application>
  <PresentationFormat>On-screen Show (16:9)</PresentationFormat>
  <Paragraphs>167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Governance Accelerator — Databricks Solution</dc:title>
  <dc:subject>AI-Powered Data Governance at Workspace Level</dc:subject>
  <dc:creator>Data Platform Architecture</dc:creator>
  <cp:lastModifiedBy>tanmay tiwari</cp:lastModifiedBy>
  <cp:revision>2</cp:revision>
  <dcterms:created xsi:type="dcterms:W3CDTF">2026-08-04T16:35:34Z</dcterms:created>
  <dcterms:modified xsi:type="dcterms:W3CDTF">2026-08-04T18:16:04Z</dcterms:modified>
</cp:coreProperties>
</file>